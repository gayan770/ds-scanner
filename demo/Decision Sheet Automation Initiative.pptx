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Inter"/>
      <ns0:italic ns1:id="rIdFont20"/>
      <ns0:bold ns1:id="rIdFont21"/>
      <ns0:regular ns1:id="rIdFont22"/>
    </ns0:embeddedFont>
    <ns0:embeddedFont>
      <ns0:font typeface="Plus Jakarta Sans"/>
      <ns0:bold ns1:id="rIdFont2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d1436a8c-b910-4197-a12b-d252ebdb2dd1.fntdata" /><ns0:Relationship Id="rIdFont21" Type="http://schemas.openxmlformats.org/officeDocument/2006/relationships/font" Target="fonts/fdefc2b2-e36d-4b79-a94d-c85e83f4620d.fntdata" /><ns0:Relationship Id="rIdFont22" Type="http://schemas.openxmlformats.org/officeDocument/2006/relationships/font" Target="fonts/316bc0b2-630b-43e0-a4d2-dca5b1dfcbc3.fntdata" /><ns0:Relationship Id="rIdFont23" Type="http://schemas.openxmlformats.org/officeDocument/2006/relationships/font" Target="fonts/9a99a0fd-9f2d-40ec-8583-95732cb64bd5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662487" y="2185094"/>
            <a:ext cx="2867025" cy="285750"/>
          </a:xfrm>
          <a:prstGeom prst="roundRect">
            <a:avLst>
              <a:gd name="adj" fmla="val 50000"/>
            </a:avLst>
          </a:prstGeom>
          <a:solidFill>
            <a:srgbClr val="0C2A2F"/>
          </a:solidFill>
          <a:ln w="9525">
            <a:solidFill>
              <a:srgbClr val="0D4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33219" y="2708969"/>
            <a:ext cx="3564284" cy="619125"/>
          </a:xfrm>
          <a:prstGeom prst="rect">
            <a:avLst/>
          </a:prstGeom>
          <a:solidFill>
            <a:srgbClr val="36C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75559" y="2242244"/>
            <a:ext cx="3240881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34D399"/>
                </a:solidFill>
                <a:latin typeface="Inter"/>
              </a:rPr>
              <a:t>OPERATIONAL INNOVATION PITCH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265" y="2699444"/>
            <a:ext cx="11751468" cy="1211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57"/>
              </a:lnSpc>
            </a:pPr>
            <a:r>
              <a:rPr b="1" sz="4050" i="0" u="none">
                <a:solidFill>
                  <a:srgbClr val="FFFFFF"/>
                </a:solidFill>
                <a:latin typeface="Plus Jakarta Sans"/>
              </a:rPr>
              <a:t>Automating the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4437" y="4101405"/>
            <a:ext cx="97631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A proactive technological initiative replacing high-latency manual scanning and extraction with a high-throughput Python engine.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87683" y="2708969"/>
            <a:ext cx="4455355" cy="619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657"/>
              </a:lnSpc>
            </a:pPr>
            <a:r>
              <a:rPr b="1" sz="4050" i="0" u="none">
                <a:solidFill>
                  <a:srgbClr val="F8FAFC"/>
                </a:solidFill>
                <a:latin typeface="Inter"/>
              </a:rPr>
              <a:t>Decision Sheet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50437" y="2924175"/>
            <a:ext cx="7490975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450" i="0" u="none">
                <a:solidFill>
                  <a:srgbClr val="FFFFFF"/>
                </a:solidFill>
                <a:latin typeface="Plus Jakarta Sans"/>
              </a:rPr>
              <a:t>The Operational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0687" y="3629025"/>
            <a:ext cx="88106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Examining the friction, human overhead, and throughput constraints of legacy Decision Sheet ingestion into DMS.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995487"/>
            <a:ext cx="520065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005012"/>
            <a:ext cx="5181600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750" y="533400"/>
            <a:ext cx="1152525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lus Jakarta Sans"/>
              </a:rPr>
              <a:t>Manual Ingestion Friction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450" y="2297013"/>
            <a:ext cx="50292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CBD5E1"/>
                </a:solidFill>
                <a:latin typeface="Inter"/>
              </a:rPr>
              <a:t>Multi-Step Document Preparation:</a:t>
            </a:r>
            <a:r>
              <a:rPr b="0" sz="1275" i="0" u="none">
                <a:solidFill>
                  <a:srgbClr val="CBD5E1"/>
                </a:solidFill>
                <a:latin typeface="Inter"/>
              </a:rPr>
              <a:t> Decision sheets require manual Word-to-PDF conversion prior to DMS ingestion.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450" y="2986385"/>
            <a:ext cx="502920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CBD5E1"/>
                </a:solidFill>
                <a:latin typeface="Inter"/>
              </a:rPr>
              <a:t>Granular Embedding Extraction:</a:t>
            </a:r>
            <a:r>
              <a:rPr b="0" sz="1275" i="0" u="none">
                <a:solidFill>
                  <a:srgbClr val="CBD5E1"/>
                </a:solidFill>
                <a:latin typeface="Inter"/>
              </a:rPr>
              <a:t> Each embedded object must be opened, extracted, and independently converted one-by-one.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3934717"/>
            <a:ext cx="50292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CBD5E1"/>
                </a:solidFill>
                <a:latin typeface="Inter"/>
              </a:rPr>
              <a:t>Productivity Choke Point:</a:t>
            </a:r>
            <a:r>
              <a:rPr b="0" sz="1275" i="0" u="none">
                <a:solidFill>
                  <a:srgbClr val="CBD5E1"/>
                </a:solidFill>
                <a:latin typeface="Inter"/>
              </a:rPr>
              <a:t> Disproportionate staff hours spent on routine conversion instead of analytical validation.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4624089"/>
            <a:ext cx="50292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CBD5E1"/>
                </a:solidFill>
                <a:latin typeface="Inter"/>
              </a:rPr>
              <a:t>Human Factor Vulnerability:</a:t>
            </a:r>
            <a:r>
              <a:rPr b="0" sz="1275" i="0" u="none">
                <a:solidFill>
                  <a:srgbClr val="CBD5E1"/>
                </a:solidFill>
                <a:latin typeface="Inter"/>
              </a:rPr>
              <a:t> High manual touchpoints increase omission risks across complex embedded appendices.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2287488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10B981"/>
                </a:solidFill>
                <a:latin typeface="Inter"/>
              </a:rPr>
              <a:t>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" y="2976860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10B981"/>
                </a:solidFill>
                <a:latin typeface="Inter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" y="3925192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10B981"/>
                </a:solidFill>
                <a:latin typeface="Inter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4614564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10B981"/>
                </a:solidFill>
                <a:latin typeface="Inter"/>
              </a:rPr>
              <a:t>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6750" y="3790950"/>
            <a:ext cx="10858500" cy="2857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50" y="4090987"/>
            <a:ext cx="2388840" cy="1148357"/>
          </a:xfrm>
          <a:prstGeom prst="roundRect">
            <a:avLst>
              <a:gd name="adj" fmla="val 8294"/>
            </a:avLst>
          </a:prstGeom>
          <a:solidFill>
            <a:srgbClr val="131C31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27749" y="36718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89870" y="2371129"/>
            <a:ext cx="2388840" cy="1148357"/>
          </a:xfrm>
          <a:prstGeom prst="roundRect">
            <a:avLst>
              <a:gd name="adj" fmla="val 8294"/>
            </a:avLst>
          </a:prstGeom>
          <a:solidFill>
            <a:srgbClr val="131C31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50869" y="36718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12991" y="4090987"/>
            <a:ext cx="2388840" cy="1148357"/>
          </a:xfrm>
          <a:prstGeom prst="roundRect">
            <a:avLst>
              <a:gd name="adj" fmla="val 8294"/>
            </a:avLst>
          </a:prstGeom>
          <a:solidFill>
            <a:srgbClr val="131C31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73990" y="36718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36112" y="2544365"/>
            <a:ext cx="2388840" cy="975121"/>
          </a:xfrm>
          <a:prstGeom prst="roundRect">
            <a:avLst>
              <a:gd name="adj" fmla="val 9768"/>
            </a:avLst>
          </a:prstGeom>
          <a:solidFill>
            <a:srgbClr val="131C31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197111" y="36718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750" y="533400"/>
            <a:ext cx="1152525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lus Jakarta Sans"/>
              </a:rPr>
              <a:t>Automation Evolution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017" y="4271962"/>
            <a:ext cx="276030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38BDF8"/>
                </a:solidFill>
                <a:latin typeface="Plus Jakarta Sans"/>
              </a:rPr>
              <a:t>Phase 0: Legacy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738" y="4538662"/>
            <a:ext cx="2628862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Entirely manual conversion of base Word docs and nested files individually.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04137" y="2552104"/>
            <a:ext cx="276030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38BDF8"/>
                </a:solidFill>
                <a:latin typeface="Plus Jakarta Sans"/>
              </a:rPr>
              <a:t>Phase 1: Bulk Doc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9859" y="2818804"/>
            <a:ext cx="2628862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Introduced 1-click batch Word-to-PDF tool to stabilize initial ingestion.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7258" y="4271962"/>
            <a:ext cx="276030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38BDF8"/>
                </a:solidFill>
                <a:latin typeface="Plus Jakarta Sans"/>
              </a:rPr>
              <a:t>Phase 2: Extractor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2980" y="4538662"/>
            <a:ext cx="2628862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Automated backend extracting and standardizing all embedded artifacts.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0379" y="2725340"/>
            <a:ext cx="276030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38BDF8"/>
                </a:solidFill>
                <a:latin typeface="Plus Jakarta Sans"/>
              </a:rPr>
              <a:t>Phase 3: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16100" y="2992040"/>
            <a:ext cx="2628862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End-to-end ingestion pipeline with direct enterprise DMS sync.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66750" y="2724150"/>
            <a:ext cx="4560540" cy="2162175"/>
          </a:xfrm>
          <a:prstGeom prst="roundRect">
            <a:avLst>
              <a:gd name="adj" fmla="val 5286"/>
            </a:avLst>
          </a:prstGeom>
          <a:solidFill>
            <a:srgbClr val="131C31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6775" y="3114675"/>
            <a:ext cx="4160490" cy="1047750"/>
          </a:xfrm>
          <a:prstGeom prst="rect">
            <a:avLst/>
          </a:prstGeom>
          <a:solidFill>
            <a:srgbClr val="24BB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50" y="533400"/>
            <a:ext cx="1152525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lus Jakarta Sans"/>
              </a:rPr>
              <a:t>Operational Efficiency Gain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8290" y="2487364"/>
            <a:ext cx="6583709" cy="643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b="1" sz="1950" i="0" u="none">
                <a:solidFill>
                  <a:srgbClr val="FFFFFF"/>
                </a:solidFill>
                <a:latin typeface="Plus Jakarta Sans"/>
              </a:rPr>
              <a:t>Eliminating Human Interaction in Repetitive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8290" y="3264544"/>
            <a:ext cx="639306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The Python-based embedding extractor systematically unpacks, parses, and converts all nested files directly inside the document package without human intervention.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8290" y="4193827"/>
            <a:ext cx="639306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This leap frees up departmental capacity, shortens the turnaround cycle for executive decision records, and guarantees standardized formatting across all uploads.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6713" y="3114675"/>
            <a:ext cx="5200612" cy="1047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b="1" sz="8250" i="0" u="none">
                <a:solidFill>
                  <a:srgbClr val="000000"/>
                </a:solidFill>
                <a:latin typeface="Plus Jakarta Sans"/>
              </a:rPr>
              <a:t>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6713" y="4276725"/>
            <a:ext cx="520061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425" i="0" u="none">
                <a:solidFill>
                  <a:srgbClr val="F8FAFC"/>
                </a:solidFill>
                <a:latin typeface="Inter"/>
              </a:rPr>
              <a:t>Manual Touchpoint Reduction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86834" y="2924175"/>
            <a:ext cx="6018330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450" i="0" u="none">
                <a:solidFill>
                  <a:srgbClr val="FFFFFF"/>
                </a:solidFill>
                <a:latin typeface="Plus Jakarta Sans"/>
              </a:rPr>
              <a:t>The Technical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0687" y="3629025"/>
            <a:ext cx="88106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How an in-house Python engine handles complex embedded compound files with precision, speed, and integrity.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66750" y="2621756"/>
            <a:ext cx="3467100" cy="2366962"/>
          </a:xfrm>
          <a:prstGeom prst="roundRect">
            <a:avLst>
              <a:gd name="adj" fmla="val 4828"/>
            </a:avLst>
          </a:prstGeom>
          <a:solidFill>
            <a:srgbClr val="131C31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62450" y="2621756"/>
            <a:ext cx="3467100" cy="2366962"/>
          </a:xfrm>
          <a:prstGeom prst="roundRect">
            <a:avLst>
              <a:gd name="adj" fmla="val 4828"/>
            </a:avLst>
          </a:prstGeom>
          <a:solidFill>
            <a:srgbClr val="131C31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8150" y="2621756"/>
            <a:ext cx="3467100" cy="2366962"/>
          </a:xfrm>
          <a:prstGeom prst="roundRect">
            <a:avLst>
              <a:gd name="adj" fmla="val 4828"/>
            </a:avLst>
          </a:prstGeom>
          <a:solidFill>
            <a:srgbClr val="131C31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2955131"/>
            <a:ext cx="514350" cy="514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9625" y="2955131"/>
            <a:ext cx="514350" cy="514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5325" y="2955131"/>
            <a:ext cx="514350" cy="514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850" y="3088481"/>
            <a:ext cx="1905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9637" y="3088481"/>
            <a:ext cx="314325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5337" y="3088481"/>
            <a:ext cx="314325" cy="247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6750" y="533400"/>
            <a:ext cx="1152525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lus Jakarta Sans"/>
              </a:rPr>
              <a:t>Core Architectural Capabilities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679031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Plus Jakarta Sans"/>
              </a:rPr>
              <a:t>OLE &amp; XML Parsing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012406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Recursively reads document packages to isolate embedded spreadsheets, presentations, and binary artifacts.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679031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Plus Jakarta Sans"/>
              </a:rPr>
              <a:t>Automated Conversion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4012406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Translates extracted child objects into standardized PDF equivalents while preserving original naming metadata.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5325" y="3679031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Plus Jakarta Sans"/>
              </a:rPr>
              <a:t>DMS-Ready Bundling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5325" y="4012406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Structures final output into indexed parent-child folders ready for direct, compliant batch DMS archiving.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285875"/>
            <a:ext cx="10858500" cy="50387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6750" y="533400"/>
            <a:ext cx="1152525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lus Jakarta Sans"/>
              </a:rPr>
              <a:t>Processing Time per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345281" y="4667250"/>
            <a:ext cx="128825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1" u="none">
                <a:solidFill>
                  <a:srgbClr val="94A3B8"/>
                </a:solidFill>
                <a:latin typeface="Inter"/>
              </a:rPr>
              <a:t>Cycle time drops from approximately 25 minutes per multi-attachment decision package to under 3 minutes per bundle.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1512" y="3062287"/>
            <a:ext cx="272623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97746" y="3062287"/>
            <a:ext cx="269810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51" y="3062287"/>
            <a:ext cx="269810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93956" y="3062287"/>
            <a:ext cx="272653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1512" y="3557587"/>
            <a:ext cx="272623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97746" y="3557587"/>
            <a:ext cx="269810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5851" y="3557587"/>
            <a:ext cx="269810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93956" y="3557587"/>
            <a:ext cx="272653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1512" y="4052887"/>
            <a:ext cx="272623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97746" y="4052887"/>
            <a:ext cx="269810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5851" y="4052887"/>
            <a:ext cx="269810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93956" y="4052887"/>
            <a:ext cx="272653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1512" y="4548187"/>
            <a:ext cx="272623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97746" y="4548187"/>
            <a:ext cx="269810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5851" y="4548187"/>
            <a:ext cx="269810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93956" y="4548187"/>
            <a:ext cx="272653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86351" y="3219450"/>
            <a:ext cx="942975" cy="209550"/>
          </a:xfrm>
          <a:prstGeom prst="roundRect">
            <a:avLst>
              <a:gd name="adj" fmla="val 18181"/>
            </a:avLst>
          </a:prstGeom>
          <a:solidFill>
            <a:srgbClr val="0C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84456" y="3219450"/>
            <a:ext cx="1419225" cy="209550"/>
          </a:xfrm>
          <a:prstGeom prst="roundRect">
            <a:avLst>
              <a:gd name="adj" fmla="val 18181"/>
            </a:avLst>
          </a:prstGeom>
          <a:solidFill>
            <a:srgbClr val="0C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84456" y="3714750"/>
            <a:ext cx="1724025" cy="209550"/>
          </a:xfrm>
          <a:prstGeom prst="roundRect">
            <a:avLst>
              <a:gd name="adj" fmla="val 18181"/>
            </a:avLst>
          </a:prstGeom>
          <a:solidFill>
            <a:srgbClr val="0C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84456" y="4210050"/>
            <a:ext cx="1590675" cy="209550"/>
          </a:xfrm>
          <a:prstGeom prst="roundRect">
            <a:avLst>
              <a:gd name="adj" fmla="val 18181"/>
            </a:avLst>
          </a:prstGeom>
          <a:solidFill>
            <a:srgbClr val="0C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84456" y="4705350"/>
            <a:ext cx="1143000" cy="209550"/>
          </a:xfrm>
          <a:prstGeom prst="roundRect">
            <a:avLst>
              <a:gd name="adj" fmla="val 18181"/>
            </a:avLst>
          </a:prstGeom>
          <a:solidFill>
            <a:srgbClr val="0C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66750" y="2552700"/>
          <a:ext cx="10848974" cy="25050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726233"/>
                <a:gridCol w="2698105"/>
                <a:gridCol w="2698105"/>
                <a:gridCol w="2726531"/>
              </a:tblGrid>
              <a:tr h="50101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Operational Attribute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Manual Process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Phase 1 (Bulk Tool)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Phase 2 (Python Extractor)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Base Document Conversion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Manual per document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Nested Embedding Handling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Manual individual extraction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Manual individual extraction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Touchpoint Interaction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High (~15-20 actions)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Moderate (~8-10 actions)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Scalability Under Peak Load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Severely constrained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Partially constrained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66750" y="533400"/>
            <a:ext cx="1152525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lus Jakarta Sans"/>
              </a:rPr>
              <a:t>Phased Capability Matrix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2551" y="3248025"/>
            <a:ext cx="8858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4D399"/>
                </a:solidFill>
                <a:latin typeface="Inter"/>
              </a:rPr>
              <a:t>Batch 1-Click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60656" y="3248025"/>
            <a:ext cx="13620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4D399"/>
                </a:solidFill>
                <a:latin typeface="Inter"/>
              </a:rPr>
              <a:t>Autonomous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60656" y="3743325"/>
            <a:ext cx="16668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4D399"/>
                </a:solidFill>
                <a:latin typeface="Inter"/>
              </a:rPr>
              <a:t>Automated OLE Extraction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60656" y="4238625"/>
            <a:ext cx="15335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4D399"/>
                </a:solidFill>
                <a:latin typeface="Inter"/>
              </a:rPr>
              <a:t>Minimal (1 Batch Action)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60656" y="4733925"/>
            <a:ext cx="10858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4D399"/>
                </a:solidFill>
                <a:latin typeface="Inter"/>
              </a:rPr>
              <a:t>Linearly Scalable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66750" y="2784276"/>
            <a:ext cx="5200650" cy="2041921"/>
          </a:xfrm>
          <a:prstGeom prst="roundRect">
            <a:avLst>
              <a:gd name="adj" fmla="val 5597"/>
            </a:avLst>
          </a:prstGeom>
          <a:solidFill>
            <a:srgbClr val="131C31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24600" y="2784276"/>
            <a:ext cx="5200650" cy="2041921"/>
          </a:xfrm>
          <a:prstGeom prst="roundRect">
            <a:avLst>
              <a:gd name="adj" fmla="val 5597"/>
            </a:avLst>
          </a:prstGeom>
          <a:solidFill>
            <a:srgbClr val="131C31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50" y="533400"/>
            <a:ext cx="1152525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lus Jakarta Sans"/>
              </a:rPr>
              <a:t>Implementation &amp;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3117651"/>
            <a:ext cx="595074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8BDF8"/>
                </a:solidFill>
                <a:latin typeface="Plus Jakarta Sans"/>
              </a:rPr>
              <a:t>1. Enterprise IT Approvals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517701"/>
            <a:ext cx="4629150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Unlike standalone desktop macros, running Python services requires standard execution permissions and security review. We have structured the script to operate inside sandbox guidelines, ready for corporate IT compliance inspection.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7975" y="3117651"/>
            <a:ext cx="55340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8BDF8"/>
                </a:solidFill>
                <a:latin typeface="Plus Jakarta Sans"/>
              </a:rPr>
              <a:t>2. Staging &amp;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7975" y="3517701"/>
            <a:ext cx="4629150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Initial resource constraints in local workstation environments can be systematically addressed through a lightweight departmental staging container, validated during controlled production pilot phases.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6750" y="533400"/>
            <a:ext cx="1152525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lus Jakarta Sans"/>
              </a:rPr>
              <a:t>Strategic Leadership Mindset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8421" y="2851844"/>
            <a:ext cx="10775156" cy="143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b="1" sz="2700" i="0" u="none">
                <a:solidFill>
                  <a:srgbClr val="F8FAFC"/>
                </a:solidFill>
                <a:latin typeface="Plus Jakarta Sans"/>
              </a:rPr>
              <a:t>We come to leadership with actionable solutions rather than complaints. This is our foundation for the upcoming automation era.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08226" y="4558456"/>
            <a:ext cx="437554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4D399"/>
                </a:solidFill>
                <a:latin typeface="Inter"/>
              </a:rPr>
              <a:t>— Departmental Operational Philosophy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8262" y="3089969"/>
            <a:ext cx="400050" cy="1076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b="1" sz="6750" i="0" u="none">
                <a:solidFill>
                  <a:srgbClr val="38BDF8"/>
                </a:solidFill>
                <a:latin typeface="Plus Jakarta Sans"/>
              </a:rPr>
              <a:t>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3687" y="4291757"/>
            <a:ext cx="400050" cy="1076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b="1" sz="6750" i="0" u="none">
                <a:solidFill>
                  <a:srgbClr val="38BDF8"/>
                </a:solidFill>
                <a:latin typeface="Plus Jakarta Sans"/>
              </a:rPr>
              <a:t>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37595" y="2524125"/>
            <a:ext cx="3516659" cy="457200"/>
          </a:xfrm>
          <a:prstGeom prst="roundRect">
            <a:avLst>
              <a:gd name="adj" fmla="val 50000"/>
            </a:avLst>
          </a:prstGeom>
          <a:solidFill>
            <a:srgbClr val="099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-345281" y="533400"/>
            <a:ext cx="12882562" cy="695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350" i="0" u="none">
                <a:solidFill>
                  <a:srgbClr val="FFFFFF"/>
                </a:solidFill>
                <a:latin typeface="Plus Jakarta Sans"/>
              </a:rPr>
              <a:t>A Strategic Win-Win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6468" y="1381125"/>
            <a:ext cx="7739062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Approval deploys 90% automation without adding budget. A deferral provides transparent evidence of high workload to justify headcount allocation.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1863" y="2657475"/>
            <a:ext cx="3748124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FFFFFF"/>
                </a:solidFill>
                <a:latin typeface="Inter"/>
              </a:rPr>
              <a:t>Open for Review &amp; Pilot Deployment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2000250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8250" y="1104900"/>
            <a:ext cx="1095375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3625" y="2043112"/>
            <a:ext cx="7786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Inter"/>
              </a:rPr>
              <a:t>https://as2.ftcdn.net/v2/jpg/18/96/65/45/1000_F_1896654561_mkiyzALVOb0ZB4sacJuExm0PqJIHB9mi.jpg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3625" y="2243137"/>
            <a:ext cx="26074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www.europosters.hu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